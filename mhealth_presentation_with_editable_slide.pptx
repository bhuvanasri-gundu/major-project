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24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2026-09-26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"/>
            <a:ext cx="164592" cy="644652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1184" y="1627416"/>
            <a:ext cx="10241280" cy="14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3000" b="1" dirty="0">
                <a:solidFill>
                  <a:srgbClr val="262522"/>
                </a:solidFill>
                <a:latin typeface="DejaVu Sans"/>
              </a:rPr>
              <a:t>ONTOLOGY-GUIDED HYPOTHESIS GENRATION       USING LLMs AND TOPIC MODELING IN   MHEALTH RESEARCH</a:t>
            </a:r>
            <a:endParaRPr sz="3000" b="1" dirty="0">
              <a:solidFill>
                <a:srgbClr val="262522"/>
              </a:solidFill>
              <a:latin typeface="DejaVu Sa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3703642"/>
            <a:ext cx="7040880" cy="2662323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9975" y="4055687"/>
            <a:ext cx="73152" cy="205740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817620"/>
            <a:ext cx="6720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B84E35"/>
                </a:solidFill>
                <a:latin typeface="DejaVu Sans"/>
              </a:rPr>
              <a:t>TEAM</a:t>
            </a:r>
            <a:r>
              <a:rPr lang="en-US" sz="1800" b="1" dirty="0">
                <a:solidFill>
                  <a:srgbClr val="B84E35"/>
                </a:solidFill>
                <a:latin typeface="DejaVu Sans"/>
              </a:rPr>
              <a:t> MEMBERS</a:t>
            </a:r>
            <a:endParaRPr sz="1800" b="1" dirty="0">
              <a:solidFill>
                <a:srgbClr val="B84E35"/>
              </a:solidFill>
              <a:latin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" y="4189476"/>
            <a:ext cx="6693408" cy="17604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600" b="0" dirty="0">
                <a:solidFill>
                  <a:srgbClr val="262522"/>
                </a:solidFill>
                <a:latin typeface="DejaVu Sans"/>
              </a:rPr>
              <a:t>G. </a:t>
            </a:r>
            <a:r>
              <a:rPr sz="1600" b="0" dirty="0" err="1">
                <a:solidFill>
                  <a:srgbClr val="262522"/>
                </a:solidFill>
                <a:latin typeface="DejaVu Sans"/>
              </a:rPr>
              <a:t>Bhuvanasri</a:t>
            </a:r>
            <a:r>
              <a:rPr sz="1600" b="0" dirty="0">
                <a:solidFill>
                  <a:srgbClr val="262522"/>
                </a:solidFill>
                <a:latin typeface="DejaVu Sans"/>
              </a:rPr>
              <a:t> (B23AI098)</a:t>
            </a:r>
            <a:br>
              <a:rPr sz="1600" dirty="0">
                <a:latin typeface="DejaVu Sans"/>
              </a:rPr>
            </a:br>
            <a:r>
              <a:rPr sz="1600" b="0" dirty="0">
                <a:solidFill>
                  <a:srgbClr val="262522"/>
                </a:solidFill>
                <a:latin typeface="DejaVu Sans"/>
              </a:rPr>
              <a:t>Mohammed Shahbaaz (B23AI121)</a:t>
            </a:r>
            <a:br>
              <a:rPr sz="1600" dirty="0">
                <a:latin typeface="DejaVu Sans"/>
              </a:rPr>
            </a:br>
            <a:r>
              <a:rPr sz="1600" b="0" dirty="0">
                <a:solidFill>
                  <a:srgbClr val="262522"/>
                </a:solidFill>
                <a:latin typeface="DejaVu Sans"/>
              </a:rPr>
              <a:t>G. Prudhvi Narayan (B23AI088)</a:t>
            </a:r>
            <a:br>
              <a:rPr sz="1600" dirty="0">
                <a:latin typeface="DejaVu Sans"/>
              </a:rPr>
            </a:br>
            <a:r>
              <a:rPr sz="1600" b="0" dirty="0">
                <a:solidFill>
                  <a:srgbClr val="262522"/>
                </a:solidFill>
                <a:latin typeface="DejaVu Sans"/>
              </a:rPr>
              <a:t>V. Anusha (B23AI114)</a:t>
            </a:r>
            <a:endParaRPr lang="en-US" sz="1600" b="0" dirty="0">
              <a:solidFill>
                <a:srgbClr val="262522"/>
              </a:solidFill>
              <a:latin typeface="DejaVu Sans"/>
            </a:endParaRPr>
          </a:p>
          <a:p>
            <a:br>
              <a:rPr sz="1600" dirty="0">
                <a:latin typeface="DejaVu Sans"/>
              </a:rPr>
            </a:br>
            <a:r>
              <a:rPr lang="en-US" sz="1600" b="1" dirty="0">
                <a:solidFill>
                  <a:srgbClr val="B84E35"/>
                </a:solidFill>
                <a:latin typeface="DejaVu Sans"/>
              </a:rPr>
              <a:t>SUPERVISOR</a:t>
            </a:r>
          </a:p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K. </a:t>
            </a:r>
            <a:r>
              <a:rPr sz="1600" b="0" dirty="0" err="1">
                <a:solidFill>
                  <a:srgbClr val="262522"/>
                </a:solidFill>
                <a:latin typeface="DejaVu Sans"/>
              </a:rPr>
              <a:t>Snehaja</a:t>
            </a:r>
            <a:r>
              <a:rPr sz="1600" b="0" dirty="0">
                <a:solidFill>
                  <a:srgbClr val="262522"/>
                </a:solidFill>
                <a:latin typeface="DejaVu Sans"/>
              </a:rPr>
              <a:t>, Assistant Professor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9184" y="4531883"/>
            <a:ext cx="338328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262522"/>
                </a:solidFill>
                <a:latin typeface="DejaVu Sans"/>
              </a:rPr>
              <a:t>Department of CS</a:t>
            </a:r>
            <a:r>
              <a:rPr lang="en-US" sz="1400" b="1" dirty="0">
                <a:solidFill>
                  <a:srgbClr val="262522"/>
                </a:solidFill>
                <a:latin typeface="DejaVu Sans"/>
              </a:rPr>
              <a:t>E</a:t>
            </a:r>
            <a:r>
              <a:rPr sz="1400" b="1" dirty="0">
                <a:solidFill>
                  <a:srgbClr val="262522"/>
                </a:solidFill>
                <a:latin typeface="DejaVu Sans"/>
              </a:rPr>
              <a:t> (AI &amp; ML)  •  KITS Warangal</a:t>
            </a:r>
            <a:br>
              <a:rPr dirty="0"/>
            </a:br>
            <a:r>
              <a:rPr sz="1400" b="1" dirty="0">
                <a:solidFill>
                  <a:srgbClr val="262522"/>
                </a:solidFill>
                <a:latin typeface="DejaVu Sans"/>
              </a:rPr>
              <a:t>Academic Year: 2026–27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FBAAA9-5628-DD39-035B-E1E26CEE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0" y="32004"/>
            <a:ext cx="11853237" cy="1412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02</a:t>
            </a:r>
          </a:p>
        </p:txBody>
      </p:sp>
      <p:pic>
        <p:nvPicPr>
          <p:cNvPr id="5" name="Picture 4" descr="kitsw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438912" cy="61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20040"/>
            <a:ext cx="10149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262522"/>
                </a:solidFill>
                <a:latin typeface="DejaVu Sans"/>
              </a:rPr>
              <a:t>1. PROJECT CONTEXT &amp;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82880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5029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B84E35"/>
                </a:solidFill>
                <a:latin typeface="DejaVu Sans"/>
              </a:rPr>
              <a:t>BASE PAPER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5001768" cy="10218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dirty="0">
                <a:solidFill>
                  <a:srgbClr val="262522"/>
                </a:solidFill>
                <a:latin typeface="DejaVu Sans"/>
              </a:rPr>
              <a:t>Generate research hypotheses from mHealth literature by combining topic modeling, semantic relationships, ontology concepts, and LLM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143000"/>
            <a:ext cx="5349240" cy="182880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143000"/>
            <a:ext cx="73152" cy="1828800"/>
          </a:xfrm>
          <a:prstGeom prst="rect">
            <a:avLst/>
          </a:prstGeom>
          <a:solidFill>
            <a:srgbClr val="63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89304"/>
            <a:ext cx="5029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637048"/>
                </a:solidFill>
                <a:latin typeface="DejaVu Sans"/>
              </a:rPr>
              <a:t>OUR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09928"/>
            <a:ext cx="5001768" cy="10218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>
              <a:defRPr sz="160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Build the initial literature-processing layer by finalizing the mHealth dataset, performing basic NLP preprocessing, and discovering initial topics.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99" y="3337560"/>
            <a:ext cx="3041469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8F3928"/>
                </a:solidFill>
                <a:latin typeface="DejaVu Sans"/>
              </a:rPr>
              <a:t>Key distinction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90555"/>
            <a:ext cx="10607040" cy="1473224"/>
          </a:xfrm>
          <a:prstGeom prst="rect">
            <a:avLst/>
          </a:prstGeom>
          <a:noFill/>
        </p:spPr>
        <p:txBody>
          <a:bodyPr wrap="square" lIns="27432" tIns="18288" rIns="18288" bIns="18288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Later stages are outside the current implementation scope.</a:t>
            </a: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>
              <a:spcAft>
                <a:spcPts val="4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sz="1600" dirty="0">
              <a:solidFill>
                <a:srgbClr val="262522"/>
              </a:solidFill>
              <a:latin typeface="DejaVu Sans"/>
            </a:endParaRPr>
          </a:p>
          <a:p>
            <a:pPr>
              <a:spcAft>
                <a:spcPts val="4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sz="1600" dirty="0">
                <a:solidFill>
                  <a:srgbClr val="262522"/>
                </a:solidFill>
                <a:latin typeface="DejaVu Sans"/>
              </a:rPr>
              <a:t>• Our</a:t>
            </a:r>
            <a:r>
              <a:rPr lang="en-US" sz="1600" dirty="0">
                <a:solidFill>
                  <a:srgbClr val="262522"/>
                </a:solidFill>
                <a:latin typeface="DejaVu Sans"/>
              </a:rPr>
              <a:t> </a:t>
            </a:r>
            <a:r>
              <a:rPr sz="1600" dirty="0">
                <a:solidFill>
                  <a:srgbClr val="262522"/>
                </a:solidFill>
                <a:latin typeface="DejaVu Sans"/>
              </a:rPr>
              <a:t>phase: gap discovery and evidence assembly are the current implementation boundary.</a:t>
            </a: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>
              <a:spcAft>
                <a:spcPts val="4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sz="1600" dirty="0">
              <a:solidFill>
                <a:srgbClr val="262522"/>
              </a:solidFill>
              <a:latin typeface="DejaVu Sans"/>
            </a:endParaRPr>
          </a:p>
          <a:p>
            <a:pPr>
              <a:spcAft>
                <a:spcPts val="4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sz="1600" dirty="0">
                <a:solidFill>
                  <a:srgbClr val="262522"/>
                </a:solidFill>
                <a:latin typeface="DejaVu Sans"/>
              </a:rPr>
              <a:t>• LLM hypothesis generation and validation remain </a:t>
            </a:r>
            <a:r>
              <a:rPr lang="en-US" sz="1600" dirty="0">
                <a:solidFill>
                  <a:srgbClr val="262522"/>
                </a:solidFill>
                <a:latin typeface="DejaVu Sans"/>
              </a:rPr>
              <a:t>further.</a:t>
            </a:r>
            <a:endParaRPr sz="1600" dirty="0">
              <a:solidFill>
                <a:srgbClr val="262522"/>
              </a:solidFill>
              <a:latin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03</a:t>
            </a:r>
          </a:p>
        </p:txBody>
      </p:sp>
      <p:pic>
        <p:nvPicPr>
          <p:cNvPr id="5" name="Picture 4" descr="kitsw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438912" cy="61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20040"/>
            <a:ext cx="10149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262522"/>
                </a:solidFill>
                <a:latin typeface="DejaVu Sans"/>
              </a:rPr>
              <a:t>2. BASE PAPER — END-TO-END 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Scopus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mHealth corpus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67712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Text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preprocessing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79" y="1773936"/>
            <a:ext cx="182881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22191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95344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TF-IDF +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word embeddings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9311" y="177393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49824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22976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Embedded Topic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Model (ETM)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66944" y="177393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77456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0608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Topic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terms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94576" y="177393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05088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AQA + PMI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relationships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22208" y="177393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332719" y="123444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05872" y="128016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Ontology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mapping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49840" y="1773936"/>
            <a:ext cx="182879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347472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Topic–concept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association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347472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B84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67712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Semantic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augmentation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11679" y="4014216"/>
            <a:ext cx="182881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22191" y="3474720"/>
            <a:ext cx="1417320" cy="1078992"/>
          </a:xfrm>
          <a:prstGeom prst="roundRect">
            <a:avLst/>
          </a:prstGeom>
          <a:solidFill>
            <a:srgbClr val="FCECE4"/>
          </a:solidFill>
          <a:ln w="16510">
            <a:solidFill>
              <a:srgbClr val="637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95344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Gemini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hypotheses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39311" y="401421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49824" y="3474720"/>
            <a:ext cx="1417320" cy="1078992"/>
          </a:xfrm>
          <a:prstGeom prst="roundRect">
            <a:avLst/>
          </a:prstGeom>
          <a:solidFill>
            <a:srgbClr val="FCECE4"/>
          </a:solidFill>
          <a:ln w="16510">
            <a:solidFill>
              <a:srgbClr val="637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22976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LLM validation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/ refinement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66944" y="401421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077456" y="347472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637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50608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TF-IDF cosine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similarity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94576" y="401421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705088" y="3474720"/>
            <a:ext cx="1417320" cy="1078992"/>
          </a:xfrm>
          <a:prstGeom prst="roundRect">
            <a:avLst/>
          </a:prstGeom>
          <a:solidFill>
            <a:srgbClr val="FFFCF6"/>
          </a:solidFill>
          <a:ln w="16510">
            <a:solidFill>
              <a:srgbClr val="637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78240" y="3520440"/>
            <a:ext cx="1271016" cy="9875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62522"/>
                </a:solidFill>
                <a:latin typeface="DejaVu Sans"/>
              </a:rPr>
              <a:t>Expert</a:t>
            </a:r>
            <a:br/>
            <a:r>
              <a:rPr sz="1400" b="1">
                <a:solidFill>
                  <a:srgbClr val="262522"/>
                </a:solidFill>
                <a:latin typeface="DejaVu Sans"/>
              </a:rPr>
              <a:t>evaluation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22208" y="4014216"/>
            <a:ext cx="182880" cy="0"/>
          </a:xfrm>
          <a:prstGeom prst="line">
            <a:avLst/>
          </a:prstGeom>
          <a:ln w="25400">
            <a:solidFill>
              <a:srgbClr val="5C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76210" y="5193792"/>
            <a:ext cx="1078992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dirty="0">
                <a:solidFill>
                  <a:srgbClr val="262522"/>
                </a:solidFill>
                <a:latin typeface="DejaVu Sans"/>
              </a:rPr>
              <a:t>The base paper moves from literature → semantic structure → ontology grounding → LLM generation →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04</a:t>
            </a:r>
          </a:p>
        </p:txBody>
      </p:sp>
      <p:pic>
        <p:nvPicPr>
          <p:cNvPr id="5" name="Picture 4" descr="kitsw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438912" cy="61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20040"/>
            <a:ext cx="10149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262522"/>
                </a:solidFill>
                <a:latin typeface="DejaVu Sans"/>
              </a:rPr>
              <a:t>3. WHAT THE AUTHORS IMPLEMENTED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" y="1079863"/>
            <a:ext cx="5257800" cy="1152144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1773" y="1136452"/>
            <a:ext cx="73152" cy="100584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079863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B84E35"/>
                </a:solidFill>
                <a:latin typeface="DejaVu Sans"/>
              </a:rPr>
              <a:t>Scopus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473827"/>
            <a:ext cx="4910328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429 mHealth documents focused on mHealth applications in India; manual relevance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798" y="2386066"/>
            <a:ext cx="5288498" cy="10972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" y="2393722"/>
            <a:ext cx="73152" cy="100584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09244" y="2365599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B84E35"/>
                </a:solidFill>
                <a:latin typeface="DejaVu Sans"/>
              </a:rPr>
              <a:t>Text 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2785324"/>
            <a:ext cx="491032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Abstract-focused analysis; TF-IDF plus word embeddings support semantic representation.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" y="3623637"/>
            <a:ext cx="5257800" cy="1140387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" y="3758184"/>
            <a:ext cx="73152" cy="100584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712464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B84E35"/>
                </a:solidFill>
                <a:latin typeface="DejaVu Sans"/>
              </a:rPr>
              <a:t>ETM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33088"/>
            <a:ext cx="491032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Embedded Topic Model discovers latent topics and produces topic terms.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506" y="4925351"/>
            <a:ext cx="5257800" cy="1286691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" y="5117374"/>
            <a:ext cx="73152" cy="1005840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102352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B84E35"/>
                </a:solidFill>
                <a:latin typeface="DejaVu Sans"/>
              </a:rPr>
              <a:t>AQA + PMI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96098"/>
            <a:ext cx="4910328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Extract structured Aspect–Qualifier–Action relationships and statistically associated term pairs.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1" y="1097280"/>
            <a:ext cx="5257800" cy="1143976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1" y="1124712"/>
            <a:ext cx="73152" cy="1005840"/>
          </a:xfrm>
          <a:prstGeom prst="rect">
            <a:avLst/>
          </a:prstGeom>
          <a:solidFill>
            <a:srgbClr val="63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079863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dirty="0">
                <a:solidFill>
                  <a:srgbClr val="637048"/>
                </a:solidFill>
                <a:latin typeface="DejaVu Sans"/>
              </a:rPr>
              <a:t>Ontology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3076" y="1404042"/>
            <a:ext cx="4910328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Map extracted terms to domain concepts; build topic–concept associations and semantic augmentation.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1" y="2331720"/>
            <a:ext cx="5257800" cy="10058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16028" y="2366431"/>
            <a:ext cx="73152" cy="1005840"/>
          </a:xfrm>
          <a:prstGeom prst="rect">
            <a:avLst/>
          </a:prstGeom>
          <a:solidFill>
            <a:srgbClr val="63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365599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637048"/>
                </a:solidFill>
                <a:latin typeface="DejaVu Sans"/>
              </a:rPr>
              <a:t>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646959"/>
            <a:ext cx="491032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Use ontology-enriched topic context to prompt Gemini for research hypotheses.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9340" y="3499975"/>
            <a:ext cx="5257800" cy="10058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16028" y="3485729"/>
            <a:ext cx="73152" cy="1005840"/>
          </a:xfrm>
          <a:prstGeom prst="rect">
            <a:avLst/>
          </a:prstGeom>
          <a:solidFill>
            <a:srgbClr val="63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0508" y="3623637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637048"/>
                </a:solidFill>
                <a:latin typeface="DejaVu Sans"/>
              </a:rPr>
              <a:t>Validation +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3076" y="3988649"/>
            <a:ext cx="491032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LLM refinement, TF-IDF cosine similarity for redundancy/diversity, and expert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B84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2D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270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C584F"/>
                </a:solidFill>
                <a:latin typeface="DejaVu Sans"/>
              </a:defRPr>
            </a:pPr>
            <a:r>
              <a:t>05</a:t>
            </a:r>
          </a:p>
        </p:txBody>
      </p:sp>
      <p:pic>
        <p:nvPicPr>
          <p:cNvPr id="5" name="Picture 4" descr="kitsw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438912" cy="61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320040"/>
            <a:ext cx="10149840" cy="4216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 dirty="0">
                <a:solidFill>
                  <a:srgbClr val="262522"/>
                </a:solidFill>
                <a:latin typeface="DejaVu Sans"/>
              </a:rPr>
              <a:t>4. BASE PAPER vs OUR CURRENT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1828800" cy="521207"/>
          </a:xfrm>
          <a:prstGeom prst="rect">
            <a:avLst/>
          </a:prstGeom>
          <a:solidFill>
            <a:srgbClr val="262522"/>
          </a:solidFill>
          <a:ln>
            <a:solidFill>
              <a:srgbClr val="F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191773"/>
            <a:ext cx="1682496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DejaVu Sans"/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078992"/>
            <a:ext cx="4160520" cy="521207"/>
          </a:xfrm>
          <a:prstGeom prst="rect">
            <a:avLst/>
          </a:prstGeom>
          <a:solidFill>
            <a:srgbClr val="262522"/>
          </a:solidFill>
          <a:ln>
            <a:solidFill>
              <a:srgbClr val="F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4872" y="1191773"/>
            <a:ext cx="4014215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DejaVu Sans"/>
              </a:rPr>
              <a:t>Base paper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078992"/>
            <a:ext cx="5212080" cy="521207"/>
          </a:xfrm>
          <a:prstGeom prst="rect">
            <a:avLst/>
          </a:prstGeom>
          <a:solidFill>
            <a:srgbClr val="262522"/>
          </a:solidFill>
          <a:ln>
            <a:solidFill>
              <a:srgbClr val="F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191774"/>
            <a:ext cx="5065776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DejaVu Sans"/>
              </a:rPr>
              <a:t>Current implementation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00200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1627632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Literature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600200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04872" y="1719227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Scopus; 429 documents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600200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1719227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PubMed; 14,905 raw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21408"/>
            <a:ext cx="182880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2148839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Representation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121408"/>
            <a:ext cx="416052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04872" y="2240434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TF-IDF + word embeddings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121408"/>
            <a:ext cx="521208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2240434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SPECTER2; 768-D document 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642615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" y="2670047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Topic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642615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04872" y="2761642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Embedded Topic Model (ETM)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642615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65392" y="2761642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Official BERTopic 0.17.4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163824"/>
            <a:ext cx="182880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72" y="3191256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 dirty="0">
                <a:solidFill>
                  <a:srgbClr val="8F3928"/>
                </a:solidFill>
                <a:latin typeface="DejaVu Sans"/>
              </a:rPr>
              <a:t>Relationships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3163824"/>
            <a:ext cx="416052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04872" y="3282851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AQA + PMI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163824"/>
            <a:ext cx="521208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3282851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Semantic similarity + Jaccard co-occurrence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685031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" y="3712463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Ontology / concepts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685031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04872" y="3804058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Domain ontology mapping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685031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65392" y="3804058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MeSH normalization + concept layer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206240"/>
            <a:ext cx="182880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6072" y="4233672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Temporal analysis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1720" y="4206240"/>
            <a:ext cx="416052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04872" y="4325267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Not central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4206240"/>
            <a:ext cx="521208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65392" y="4325267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2015–2025 topic/concept growth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727448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6072" y="4754880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Gap detection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31720" y="4727448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404872" y="4846475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Not the same mechanism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727448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65392" y="4846475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GapScore + synonym filtering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248655"/>
            <a:ext cx="182880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72" y="5276088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LLM generation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31720" y="5248655"/>
            <a:ext cx="416052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04872" y="5367683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Gemini + validation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5248655"/>
            <a:ext cx="5212080" cy="521207"/>
          </a:xfrm>
          <a:prstGeom prst="rect">
            <a:avLst/>
          </a:prstGeom>
          <a:solidFill>
            <a:srgbClr val="F3EDE3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65392" y="5367683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Not implemented yet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769864"/>
            <a:ext cx="182880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" y="5797296"/>
            <a:ext cx="1682496" cy="4663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8F3928"/>
                </a:solidFill>
                <a:latin typeface="DejaVu Sans"/>
              </a:rPr>
              <a:t>Final evaluation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31720" y="5769864"/>
            <a:ext cx="416052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404872" y="5888891"/>
            <a:ext cx="4014215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Similarity + experts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5769864"/>
            <a:ext cx="5212080" cy="521207"/>
          </a:xfrm>
          <a:prstGeom prst="rect">
            <a:avLst/>
          </a:prstGeom>
          <a:solidFill>
            <a:srgbClr val="FFFCF6"/>
          </a:solidFill>
          <a:ln>
            <a:solidFill>
              <a:srgbClr val="E2D6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65392" y="5888891"/>
            <a:ext cx="5065776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262522"/>
                </a:solidFill>
                <a:latin typeface="DejaVu Sans"/>
              </a:rPr>
              <a:t>Evidence traceability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5. CURRENT IMPLEMENTATION — THREE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34747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904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rPr dirty="0"/>
              <a:t>01  FINALIZE </a:t>
            </a:r>
            <a:r>
              <a:rPr dirty="0" err="1"/>
              <a:t>mHEALTH</a:t>
            </a:r>
            <a:r>
              <a:rPr dirty="0"/>
              <a:t>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31363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endParaRPr lang="en-US" dirty="0">
              <a:latin typeface="DejaVu Sans"/>
            </a:endParaRPr>
          </a:p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PubMed literature corpus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14,905 raw records → 14,881 cleaned → 12,642 retained for downstream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34747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4904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02  BASIC NLP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20240"/>
            <a:ext cx="3136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endParaRPr lang="en-US" dirty="0">
              <a:latin typeface="DejaVu Sans"/>
            </a:endParaRPr>
          </a:p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Scientific text cleaning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HTML/XML and boilerplate removal, DOI/URL cleanup, Unicode normalization, biomedical symbol handling and whitespace normalization.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3474720"/>
          </a:xfrm>
          <a:prstGeom prst="rect">
            <a:avLst/>
          </a:prstGeom>
          <a:solidFill>
            <a:srgbClr val="D3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49047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9F27"/>
                </a:solidFill>
                <a:latin typeface="Aptos"/>
              </a:defRPr>
            </a:pPr>
            <a:r>
              <a:rPr dirty="0"/>
              <a:t>03  INITIAL TOPIC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920240"/>
            <a:ext cx="313639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endParaRPr lang="en-US" dirty="0">
              <a:latin typeface="DejaVu Sans"/>
            </a:endParaRPr>
          </a:p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 err="1">
                <a:latin typeface="DejaVu Sans"/>
              </a:rPr>
              <a:t>BERTopic</a:t>
            </a:r>
            <a:r>
              <a:rPr dirty="0">
                <a:latin typeface="DejaVu Sans"/>
              </a:rPr>
              <a:t>-based topic discovery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Preprocessed documents are clustered to obtain initial mHealth research topics and representative terms.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2825"/>
                </a:solidFill>
                <a:latin typeface="Aptos"/>
              </a:defRPr>
            </a:pPr>
            <a:r>
              <a:rPr dirty="0"/>
              <a:t>Only these three implementation areas are presented in this version of the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6. FINALIZE mHEALTH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90472"/>
            <a:ext cx="30998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B54C34"/>
                </a:solidFill>
                <a:latin typeface="Aptos"/>
              </a:defRPr>
            </a:pPr>
            <a:r>
              <a:t>14,905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39112"/>
            <a:ext cx="3099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raw PubMed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490472"/>
            <a:ext cx="30998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5794E"/>
                </a:solidFill>
                <a:latin typeface="Aptos"/>
              </a:defRPr>
            </a:pPr>
            <a:r>
              <a:t>14,881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39112"/>
            <a:ext cx="3099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cleaned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490472"/>
            <a:ext cx="30998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39F27"/>
                </a:solidFill>
                <a:latin typeface="Aptos"/>
              </a:defRPr>
            </a:pPr>
            <a:r>
              <a:t>12,642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039112"/>
            <a:ext cx="30998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retained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73152" cy="22860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1363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DATASET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566160"/>
            <a:ext cx="48280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Publication period: 2015–2025</a:t>
            </a: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PubMed mHealth literature</a:t>
            </a: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0 duplicate PMIDs</a:t>
            </a: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24 records removed during cleaning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73152" cy="228600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1363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SCREENING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566160"/>
            <a:ext cx="48280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9,279 relevant + 3,363 borderline = 12,642 retained records.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This retained corpus is the input to preprocessing.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DATASET OUTPUT — PAPERS BY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5" name="Picture 4" descr="paper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50" y="1143000"/>
            <a:ext cx="10488418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7. BASIC NLP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4173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990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044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HTML/XML and publisher boilerplate removal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4173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3990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828800"/>
            <a:ext cx="3044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DOI, URL and copyright artifact removal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73152" cy="14173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13990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828800"/>
            <a:ext cx="3044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Unicode normalization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971800"/>
            <a:ext cx="73152" cy="14173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1363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566160"/>
            <a:ext cx="3044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Biomedical symbol handling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9718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2971800"/>
            <a:ext cx="73152" cy="14173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2" y="31363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566160"/>
            <a:ext cx="3044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Whitespace normalization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9718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2971800"/>
            <a:ext cx="73152" cy="14173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2" y="31363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566160"/>
            <a:ext cx="3044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clean_document = </a:t>
            </a:r>
            <a:r>
              <a:rPr dirty="0" err="1">
                <a:latin typeface="DejaVu Sans"/>
              </a:rPr>
              <a:t>clean_title</a:t>
            </a:r>
            <a:r>
              <a:rPr dirty="0">
                <a:latin typeface="DejaVu Sans"/>
              </a:rPr>
              <a:t> + </a:t>
            </a:r>
            <a:r>
              <a:rPr dirty="0" err="1">
                <a:latin typeface="DejaVu Sans"/>
              </a:rPr>
              <a:t>clean_abstract</a:t>
            </a:r>
            <a:endParaRPr dirty="0">
              <a:latin typeface="DejaVu San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43400" y="480060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16552" y="4965192"/>
            <a:ext cx="33741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39F27"/>
                </a:solidFill>
                <a:latin typeface="Aptos"/>
              </a:defRPr>
            </a:pPr>
            <a:r>
              <a:t>12,642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5513832"/>
            <a:ext cx="3374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preprocessed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190488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Biomedical forms such as “m-health”, “anti-HIV”, and “Option B+” are preserved where meaningful.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rPr dirty="0"/>
              <a:t>8. INITIAL TOPIC MODELING — BERTOPIC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73152" cy="18288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SPECTER2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document representations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2057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28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360" y="1508760"/>
            <a:ext cx="73152" cy="18288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UMAP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5D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057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28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66360" y="1508760"/>
            <a:ext cx="73152" cy="18288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76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HDBSCAN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density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057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28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52360" y="1508760"/>
            <a:ext cx="73152" cy="182880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rPr dirty="0"/>
              <a:t>BERTopic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topic representation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2057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282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508760"/>
            <a:ext cx="187451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38360" y="1508760"/>
            <a:ext cx="73152" cy="1828800"/>
          </a:xfrm>
          <a:prstGeom prst="rect">
            <a:avLst/>
          </a:prstGeom>
          <a:solidFill>
            <a:srgbClr val="D3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48672" y="167335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9F27"/>
                </a:solidFill>
                <a:latin typeface="Aptos"/>
              </a:defRPr>
            </a:pPr>
            <a:r>
              <a:t>TOPICS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103120"/>
            <a:ext cx="1490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t>initial topic set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41605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01952" y="4325112"/>
            <a:ext cx="332841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65794E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1952" y="4873752"/>
            <a:ext cx="332841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genuine topics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4160520"/>
            <a:ext cx="4526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33872" y="4325112"/>
            <a:ext cx="43799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B54C34"/>
                </a:solidFill>
                <a:latin typeface="Aptos"/>
              </a:defRPr>
            </a:pPr>
            <a:r>
              <a:t>7,927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3872" y="4873752"/>
            <a:ext cx="4379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t>documents assigned to genuine topics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7150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2825"/>
                </a:solidFill>
                <a:latin typeface="Aptos"/>
              </a:defRPr>
            </a:pPr>
            <a:r>
              <a:t>4,715 documents (37.3%) are assigned to the HDBSCAN outlier class.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TOPIC MODELING OUTPUT — TOPIC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5" name="Picture 4" descr="topic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49" y="850392"/>
            <a:ext cx="11739154" cy="57594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TOPIC MODELING OUTPUT — TOPIC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topi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17" y="940526"/>
            <a:ext cx="10361023" cy="55517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TOPIC MODELING OUTPUT — REPRESENTATIVE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843203"/>
              </p:ext>
            </p:extLst>
          </p:nvPr>
        </p:nvGraphicFramePr>
        <p:xfrm>
          <a:off x="502920" y="853440"/>
          <a:ext cx="11018520" cy="586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</a:t>
                      </a:r>
                    </a:p>
                  </a:txBody>
                  <a:tcPr>
                    <a:solidFill>
                      <a:srgbClr val="2828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DejaVu Sans"/>
                        </a:rPr>
                        <a:t>DOCUMENTS</a:t>
                      </a:r>
                    </a:p>
                  </a:txBody>
                  <a:tcPr>
                    <a:solidFill>
                      <a:srgbClr val="2828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DejaVu Sans"/>
                        </a:rPr>
                        <a:t>REPRESENTATIVE TERMS</a:t>
                      </a:r>
                    </a:p>
                  </a:txBody>
                  <a:tcPr>
                    <a:solidFill>
                      <a:srgbClr val="282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DejaVu Sans"/>
                        </a:rPr>
                        <a:t>health, maternal, workers, women, community, mobile, care, services, </a:t>
                      </a:r>
                      <a:r>
                        <a:rPr dirty="0" err="1">
                          <a:latin typeface="DejaVu Sans"/>
                        </a:rPr>
                        <a:t>mhealth</a:t>
                      </a:r>
                      <a:r>
                        <a:rPr dirty="0">
                          <a:latin typeface="DejaVu Sans"/>
                        </a:rPr>
                        <a:t>, health workers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1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634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hiv, men, prep, sexual, intervention, adherence, living hiv, sex, art, testing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health, digital, research, data, mhealth, privacy, digital health, apps, design, technologies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3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366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apps, quality, app, store, mars, rating, google, stores, available, google play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DejaVu Sans"/>
                        </a:rPr>
                        <a:t>cancer, patients, breast, breast cancer, survivors, cancer patients, app, symptom, patient, cancer survivors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5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267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smoking, cessation, smoking cessation, quit, smokers, tobacco, abstinence, participants, quitting, quit smoking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pain, knee, chronic, patients, chronic pain, exercise, app, low pain, osteoarthritis,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7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226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intention, acceptance, use, perceived, model, intention use, mhealth, health, adoption, factors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children, parents, obesity, intervention, adolescents, healthy, child, app, school, physical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Topic 9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>
                          <a:latin typeface="DejaVu Sans"/>
                        </a:rPr>
                        <a:t>191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82825"/>
                          </a:solidFill>
                          <a:latin typeface="Aptos"/>
                        </a:defRPr>
                      </a:pPr>
                      <a:r>
                        <a:rPr dirty="0" err="1">
                          <a:latin typeface="DejaVu Sans"/>
                        </a:rPr>
                        <a:t>ecg</a:t>
                      </a:r>
                      <a:r>
                        <a:rPr dirty="0">
                          <a:latin typeface="DejaVu Sans"/>
                        </a:rPr>
                        <a:t>, </a:t>
                      </a:r>
                      <a:r>
                        <a:rPr dirty="0" err="1">
                          <a:latin typeface="DejaVu Sans"/>
                        </a:rPr>
                        <a:t>af</a:t>
                      </a:r>
                      <a:r>
                        <a:rPr dirty="0">
                          <a:latin typeface="DejaVu Sans"/>
                        </a:rPr>
                        <a:t>, ppg, heart, pulse, bp, accuracy, detection, heart rate, rate</a:t>
                      </a:r>
                    </a:p>
                  </a:txBody>
                  <a:tcPr>
                    <a:solidFill>
                      <a:srgbClr val="EF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TOPIC MODELING OUTPUT — TOPIC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5" name="Picture 4" descr="topic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08957"/>
            <a:ext cx="10844368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36901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/>
              <a:t>The chart shows how the leading discovered topics vary across the 2015–2025 corpus.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t>9. IMPLEMENTATION BOUNDARY —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96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1374398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324612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54C34"/>
                </a:solidFill>
                <a:latin typeface="Aptos"/>
              </a:defRPr>
            </a:pPr>
            <a:r>
              <a:t>IMPLEMENTED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30449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Finalize mHealth dataset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sz="1600" dirty="0">
                <a:latin typeface="DejaVu Sans"/>
              </a:rPr>
              <a:t>14,905 raw → 14,881 cleaned → 12,642 retained.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324612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4904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5794E"/>
                </a:solidFill>
                <a:latin typeface="Aptos"/>
              </a:defRPr>
            </a:pPr>
            <a:r>
              <a:t>IMPLEMENTED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920240"/>
            <a:ext cx="30449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Basic NLP preprocessing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12,642 scientific documents prepared for topic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3246120"/>
          </a:xfrm>
          <a:prstGeom prst="rect">
            <a:avLst/>
          </a:prstGeom>
          <a:solidFill>
            <a:srgbClr val="D3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4904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9F27"/>
                </a:solidFill>
                <a:latin typeface="Aptos"/>
              </a:defRPr>
            </a:pPr>
            <a:r>
              <a:t>IMPLEMENTED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30449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Initial topic modeling</a:t>
            </a:r>
            <a:br>
              <a:rPr dirty="0">
                <a:latin typeface="DejaVu Sans"/>
              </a:rPr>
            </a:br>
            <a:br>
              <a:rPr dirty="0">
                <a:latin typeface="DejaVu Sans"/>
              </a:rPr>
            </a:br>
            <a:r>
              <a:rPr dirty="0">
                <a:latin typeface="DejaVu Sans"/>
              </a:rPr>
              <a:t>BERTopic produced 63 genuine topics and 4,715 outliers.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54C34"/>
                </a:solidFill>
                <a:latin typeface="Aptos"/>
              </a:defRPr>
            </a:pPr>
            <a:r>
              <a:t>NOT INCLUDED IN THIS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2825"/>
                </a:solidFill>
                <a:latin typeface="Aptos"/>
              </a:defRPr>
            </a:pPr>
            <a:r>
              <a:rPr dirty="0">
                <a:latin typeface="DejaVu Sans"/>
              </a:rPr>
              <a:t>Biomedical concept extraction • MeSH normalization • temporal/semantic gap analysis • research-gap scoring • LLM hypothesis generation • LLM validation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94521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82825"/>
                </a:solidFill>
                <a:latin typeface="Aptos Display"/>
              </a:defRPr>
            </a:pPr>
            <a:r>
              <a:rPr lang="en-US" dirty="0"/>
              <a:t>10.  </a:t>
            </a:r>
            <a:r>
              <a:rPr dirty="0"/>
              <a:t>KEY TAKEAWAYS FOR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4720" y="1438568"/>
            <a:ext cx="5109677" cy="1362615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0559" y="1556861"/>
            <a:ext cx="73152" cy="11430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737" y="1576867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54C34"/>
                </a:solidFill>
                <a:latin typeface="Aptos"/>
              </a:defRPr>
            </a:pPr>
            <a:r>
              <a:rPr dirty="0"/>
              <a:t>DATASET IS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805" y="1960674"/>
            <a:ext cx="51828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A validated PubMed corpus gives us a reliable</a:t>
            </a:r>
            <a:endParaRPr lang="en-US" sz="1600" dirty="0">
              <a:latin typeface="DejaVu Sans"/>
            </a:endParaRP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lang="en-US" sz="1600" dirty="0">
                <a:latin typeface="DejaVu Sans"/>
              </a:rPr>
              <a:t>S</a:t>
            </a:r>
            <a:r>
              <a:rPr sz="1600" dirty="0">
                <a:latin typeface="DejaVu Sans"/>
              </a:rPr>
              <a:t>tarting</a:t>
            </a:r>
            <a:r>
              <a:rPr lang="en-US" sz="1600" dirty="0">
                <a:latin typeface="DejaVu Sans"/>
              </a:rPr>
              <a:t> </a:t>
            </a:r>
            <a:r>
              <a:rPr sz="1600" dirty="0">
                <a:latin typeface="DejaVu Sans"/>
              </a:rPr>
              <a:t>point for downstream mHealth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29102" y="1447054"/>
            <a:ext cx="5460274" cy="1374404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55950" y="1543279"/>
            <a:ext cx="73152" cy="114300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54585" y="159516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5794E"/>
                </a:solidFill>
                <a:latin typeface="Aptos"/>
              </a:defRPr>
            </a:pPr>
            <a:r>
              <a:rPr dirty="0"/>
              <a:t>TEXT IS STANDARDIZED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2976" y="1831957"/>
            <a:ext cx="559640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Preprocessing converts the retained literature into</a:t>
            </a:r>
            <a:endParaRPr lang="en-US" sz="1600" dirty="0">
              <a:latin typeface="DejaVu Sans"/>
            </a:endParaRPr>
          </a:p>
          <a:p>
            <a:pPr algn="just"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consistent scientific text while preserving important</a:t>
            </a:r>
            <a:endParaRPr lang="en-US" sz="1600" dirty="0">
              <a:latin typeface="DejaVu Sans"/>
            </a:endParaRPr>
          </a:p>
          <a:p>
            <a:pPr algn="just"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biomedical expressions.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06" y="3079950"/>
            <a:ext cx="5289134" cy="1350953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144" y="3231569"/>
            <a:ext cx="73152" cy="1143000"/>
          </a:xfrm>
          <a:prstGeom prst="rect">
            <a:avLst/>
          </a:prstGeom>
          <a:solidFill>
            <a:srgbClr val="D3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67199" y="315991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39F27"/>
                </a:solidFill>
                <a:latin typeface="Aptos"/>
              </a:defRPr>
            </a:pPr>
            <a:r>
              <a:rPr dirty="0"/>
              <a:t>TOPICS ARE DISCOVERED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556" y="3594950"/>
            <a:ext cx="522732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BERTopic groups semantically related papers</a:t>
            </a:r>
            <a:r>
              <a:rPr lang="en-US" sz="1600" dirty="0">
                <a:latin typeface="DejaVu Sans"/>
              </a:rPr>
              <a:t> and</a:t>
            </a: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exposes recurring themes in</a:t>
            </a:r>
            <a:r>
              <a:rPr lang="en-US" sz="1600" dirty="0">
                <a:latin typeface="DejaVu Sans"/>
              </a:rPr>
              <a:t> </a:t>
            </a:r>
            <a:r>
              <a:rPr sz="1600" dirty="0">
                <a:latin typeface="DejaVu Sans"/>
              </a:rPr>
              <a:t>mHealth literature.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0" y="3113441"/>
            <a:ext cx="5582194" cy="1317462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22848" y="3200672"/>
            <a:ext cx="73152" cy="1143000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6025" y="31914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54C34"/>
                </a:solidFill>
                <a:latin typeface="Aptos"/>
              </a:defRPr>
            </a:pPr>
            <a:r>
              <a:rPr dirty="0"/>
              <a:t>OUTPUTS ARE TRACEABLE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9102" y="3593688"/>
            <a:ext cx="57322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Each stage produces outputs,</a:t>
            </a:r>
            <a:r>
              <a:rPr lang="en-US" sz="1600" dirty="0">
                <a:latin typeface="DejaVu Sans"/>
              </a:rPr>
              <a:t> </a:t>
            </a:r>
            <a:r>
              <a:rPr sz="1600" dirty="0">
                <a:latin typeface="DejaVu Sans"/>
              </a:rPr>
              <a:t>allowing</a:t>
            </a:r>
            <a:r>
              <a:rPr lang="en-US" sz="1600" dirty="0">
                <a:latin typeface="DejaVu Sans"/>
              </a:rPr>
              <a:t> </a:t>
            </a:r>
            <a:r>
              <a:rPr sz="1600" dirty="0">
                <a:latin typeface="DejaVu Sans"/>
              </a:rPr>
              <a:t>the </a:t>
            </a:r>
            <a:endParaRPr lang="en-US" sz="1600" dirty="0">
              <a:latin typeface="DejaVu Sans"/>
            </a:endParaRP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lang="en-US" sz="1600" dirty="0">
                <a:latin typeface="DejaVu Sans"/>
              </a:rPr>
              <a:t>P</a:t>
            </a:r>
            <a:r>
              <a:rPr sz="1600" dirty="0">
                <a:latin typeface="DejaVu Sans"/>
              </a:rPr>
              <a:t>rocessing</a:t>
            </a:r>
            <a:r>
              <a:rPr lang="en-US" sz="1600" dirty="0">
                <a:latin typeface="DejaVu Sans"/>
              </a:rPr>
              <a:t> P</a:t>
            </a:r>
            <a:r>
              <a:rPr sz="1600" dirty="0">
                <a:latin typeface="DejaVu Sans"/>
              </a:rPr>
              <a:t>ipeline</a:t>
            </a:r>
            <a:r>
              <a:rPr lang="en-US" sz="1600" dirty="0">
                <a:latin typeface="DejaVu Sans"/>
              </a:rPr>
              <a:t>,</a:t>
            </a:r>
            <a:r>
              <a:rPr sz="1600" dirty="0">
                <a:latin typeface="DejaVu Sans"/>
              </a:rPr>
              <a:t> topic results to be demonstrated </a:t>
            </a:r>
            <a:endParaRPr lang="en-US" sz="1600" dirty="0">
              <a:latin typeface="DejaVu San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60792" y="4938057"/>
            <a:ext cx="5714256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3264932" y="5098077"/>
            <a:ext cx="73152" cy="1143000"/>
          </a:xfrm>
          <a:prstGeom prst="rect">
            <a:avLst/>
          </a:prstGeom>
          <a:solidFill>
            <a:srgbClr val="657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64705" y="50306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5794E"/>
                </a:solidFill>
                <a:latin typeface="Aptos"/>
              </a:defRPr>
            </a:pPr>
            <a:r>
              <a:rPr dirty="0"/>
              <a:t>NEXT STEP IS WELL DEFINED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3943" y="5426873"/>
            <a:ext cx="57142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The present phase establishes the literature-analysis </a:t>
            </a:r>
            <a:endParaRPr lang="en-US" sz="1600" dirty="0">
              <a:latin typeface="DejaVu Sans"/>
            </a:endParaRP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foundation; hypothesis generation and LLM-based </a:t>
            </a:r>
            <a:endParaRPr lang="en-US" sz="1600" dirty="0">
              <a:latin typeface="DejaVu Sans"/>
            </a:endParaRPr>
          </a:p>
          <a:p>
            <a:pPr>
              <a:defRPr sz="1400">
                <a:solidFill>
                  <a:srgbClr val="282825"/>
                </a:solidFill>
                <a:latin typeface="Aptos"/>
              </a:defRPr>
            </a:pPr>
            <a:r>
              <a:rPr sz="1600" dirty="0">
                <a:latin typeface="DejaVu Sans"/>
              </a:rPr>
              <a:t>stages follow as future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1731752" cy="73152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0906" y="347192"/>
            <a:ext cx="563509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82825"/>
                </a:solidFill>
                <a:latin typeface="Aptos Display"/>
              </a:defRPr>
            </a:pPr>
            <a:r>
              <a:rPr lang="en-US" sz="2500" b="1" dirty="0">
                <a:solidFill>
                  <a:srgbClr val="262522"/>
                </a:solidFill>
                <a:latin typeface="Aptos" panose="020B0004020202020204" pitchFamily="34" charset="0"/>
              </a:rPr>
              <a:t>11. REFERENCES &amp; SOURCE BASIS</a:t>
            </a:r>
          </a:p>
          <a:p>
            <a:pPr algn="ctr">
              <a:defRPr sz="3800" b="1">
                <a:solidFill>
                  <a:srgbClr val="282825"/>
                </a:solidFill>
                <a:latin typeface="Aptos Display"/>
              </a:defRPr>
            </a:pPr>
            <a:endParaRPr sz="2500" dirty="0"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0906" y="938449"/>
            <a:ext cx="11165037" cy="464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• Vibha, Rajesh R. Pai, N. Sumith. “Ontology-Guided Hypothesis Generation Using LLMs and Topic Modeling in mHealth Research.” IEEE Access, 2025, 13, 200725–200736.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• Current project source: Phase 1 Final End-to-End Validation, Cleanup, and Completion Report (audit date: 26 September 2026).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• Current project repository artifacts: notebooks 00–06, </a:t>
            </a:r>
            <a:r>
              <a:rPr lang="en-US" sz="1600" dirty="0" err="1">
                <a:solidFill>
                  <a:srgbClr val="262522"/>
                </a:solidFill>
                <a:latin typeface="DejaVu Sans"/>
              </a:rPr>
              <a:t>src</a:t>
            </a:r>
            <a:r>
              <a:rPr lang="en-US" sz="1600" dirty="0">
                <a:solidFill>
                  <a:srgbClr val="262522"/>
                </a:solidFill>
                <a:latin typeface="DejaVu Sans"/>
              </a:rPr>
              <a:t> modules, BERTopic model, outputs/, figures/.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endParaRPr lang="en-US" sz="1600" dirty="0">
              <a:solidFill>
                <a:srgbClr val="262522"/>
              </a:solidFill>
              <a:latin typeface="DejaVu Sans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• Base-paper presentation notes: methodology summary prepared from the supplied base-paper discussion.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262522"/>
                </a:solidFill>
                <a:latin typeface="DejaVu Sans"/>
              </a:defRPr>
            </a:pPr>
            <a:r>
              <a:rPr lang="en-US" sz="1600" dirty="0">
                <a:solidFill>
                  <a:srgbClr val="262522"/>
                </a:solidFill>
                <a:latin typeface="DejaVu Sans"/>
              </a:rPr>
              <a:t>                                                       </a:t>
            </a:r>
            <a:endParaRPr lang="en-US" sz="4400" dirty="0">
              <a:solidFill>
                <a:srgbClr val="262522"/>
              </a:solidFill>
              <a:latin typeface="DejaVu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FBB4C-67FA-8F4B-346A-82B5C891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CF8A35-3C13-71C0-AD3C-C2384194A50B}"/>
              </a:ext>
            </a:extLst>
          </p:cNvPr>
          <p:cNvSpPr/>
          <p:nvPr/>
        </p:nvSpPr>
        <p:spPr>
          <a:xfrm>
            <a:off x="0" y="0"/>
            <a:ext cx="11731752" cy="73152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C7C73-AA97-3A41-E0A7-6C0DFA57A80B}"/>
              </a:ext>
            </a:extLst>
          </p:cNvPr>
          <p:cNvSpPr txBox="1"/>
          <p:nvPr/>
        </p:nvSpPr>
        <p:spPr>
          <a:xfrm>
            <a:off x="1584960" y="2733341"/>
            <a:ext cx="864761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82825"/>
                </a:solidFill>
                <a:latin typeface="Aptos Display"/>
              </a:defRPr>
            </a:pPr>
            <a:r>
              <a:rPr lang="en-US" sz="8000" b="1" dirty="0">
                <a:solidFill>
                  <a:srgbClr val="262522"/>
                </a:solidFill>
                <a:latin typeface="Aptos" panose="020B0004020202020204" pitchFamily="34" charset="0"/>
              </a:rPr>
              <a:t>THANK YOU</a:t>
            </a:r>
          </a:p>
          <a:p>
            <a:pPr algn="ctr">
              <a:defRPr sz="3800" b="1">
                <a:solidFill>
                  <a:srgbClr val="282825"/>
                </a:solidFill>
                <a:latin typeface="Aptos Display"/>
              </a:defRPr>
            </a:pPr>
            <a:endParaRPr sz="25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065131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282825"/>
                </a:solidFill>
              </a:defRPr>
            </a:pPr>
            <a:r>
              <a:t>BIOMEDICAL CONCEPT EXTRACTION &amp; MeSH NORMALIZATION</a:t>
            </a:r>
          </a:p>
          <a:p>
            <a:pPr>
              <a:defRPr sz="1300" i="1">
                <a:solidFill>
                  <a:srgbClr val="5A5A55"/>
                </a:solidFill>
              </a:defRPr>
            </a:pPr>
            <a:r>
              <a:t>Bridging Discovered Topics to Standardized Clinical Entities for Research Gap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15568"/>
            <a:ext cx="5349240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15568"/>
            <a:ext cx="128016" cy="5440680"/>
          </a:xfrm>
          <a:prstGeom prst="roundRect">
            <a:avLst/>
          </a:prstGeom>
          <a:solidFill>
            <a:srgbClr val="B54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261872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B54C34"/>
                </a:solidFill>
              </a:defRPr>
            </a:pPr>
            <a:r>
              <a:t>STAGE 4 — BIOMEDICAL CONCEPT EXTRACTION</a:t>
            </a:r>
          </a:p>
          <a:p>
            <a:pPr>
              <a:defRPr sz="1200">
                <a:solidFill>
                  <a:srgbClr val="5A5A55"/>
                </a:solidFill>
              </a:defRPr>
            </a:pPr>
            <a:r>
              <a:t>Discover important medical ideas present inside research 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956816"/>
            <a:ext cx="4892040" cy="777240"/>
          </a:xfrm>
          <a:prstGeom prst="roundRect">
            <a:avLst/>
          </a:prstGeom>
          <a:solidFill>
            <a:srgbClr val="FEF2ED"/>
          </a:solidFill>
          <a:ln w="12700">
            <a:solidFill>
              <a:srgbClr val="FF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BF360C"/>
                </a:solidFill>
              </a:defRPr>
            </a:pPr>
            <a:r>
              <a:t>Extraction Sources across 12,642 Papers:</a:t>
            </a:r>
          </a:p>
          <a:p>
            <a:pPr>
              <a:defRPr sz="1200" b="1">
                <a:solidFill>
                  <a:srgbClr val="282825"/>
                </a:solidFill>
              </a:defRPr>
            </a:pPr>
            <a:r>
              <a:t>• MeSH Descriptors   • Author Keywords   • Medical Noun Phrases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2834640"/>
            <a:ext cx="489204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9260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475569"/>
                </a:solidFill>
              </a:defRPr>
            </a:pPr>
            <a:r>
              <a:t>19,689</a:t>
            </a:r>
          </a:p>
          <a:p>
            <a:pPr algn="ctr">
              <a:defRPr sz="1100" b="1">
                <a:solidFill>
                  <a:srgbClr val="5A5A55"/>
                </a:solidFill>
              </a:defRPr>
            </a:pPr>
            <a:r>
              <a:t>Raw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3081528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30175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54C34"/>
                </a:solidFill>
              </a:defRPr>
            </a:pPr>
            <a:r>
              <a:t>Freq ≥ 5</a:t>
            </a:r>
          </a:p>
          <a:p>
            <a:pPr algn="ctr">
              <a:defRPr sz="1050" b="1">
                <a:solidFill>
                  <a:srgbClr val="5A5A55"/>
                </a:solidFill>
              </a:defRPr>
            </a:pPr>
            <a:r>
              <a:t>Occurrence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3081528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7" y="29260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E7D32"/>
                </a:solidFill>
              </a:defRPr>
            </a:pPr>
            <a:r>
              <a:t>2,790</a:t>
            </a:r>
          </a:p>
          <a:p>
            <a:pPr algn="ctr">
              <a:defRPr sz="1100" b="1">
                <a:solidFill>
                  <a:srgbClr val="2E7D32"/>
                </a:solidFill>
              </a:defRPr>
            </a:pPr>
            <a:r>
              <a:t>Retained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114800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282825"/>
                </a:solidFill>
              </a:defRPr>
            </a:pPr>
            <a:r>
              <a:t>• Topics identify broad research themes; concepts reveal exact medical ideas.</a:t>
            </a:r>
          </a:p>
          <a:p>
            <a:pPr>
              <a:defRPr sz="1250">
                <a:solidFill>
                  <a:srgbClr val="282825"/>
                </a:solidFill>
              </a:defRPr>
            </a:pPr>
            <a:r>
              <a:t>• Extracts specific clinical entities, technologies, symptoms, and therapies.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5093207"/>
            <a:ext cx="4892040" cy="128016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45309"/>
                </a:solidFill>
              </a:defRPr>
            </a:pPr>
            <a:r>
              <a:t>EASY MEMORY KEY:</a:t>
            </a:r>
          </a:p>
          <a:p>
            <a:pPr>
              <a:defRPr sz="1300" b="1">
                <a:solidFill>
                  <a:srgbClr val="282825"/>
                </a:solidFill>
              </a:defRPr>
            </a:pPr>
            <a:r>
              <a:t>★  Topics  =  Research Area   (e.g., Topic 1: HIV Prevention &amp; Care)</a:t>
            </a:r>
          </a:p>
          <a:p>
            <a:pPr>
              <a:defRPr sz="1300" b="1">
                <a:solidFill>
                  <a:srgbClr val="282825"/>
                </a:solidFill>
              </a:defRPr>
            </a:pPr>
            <a:r>
              <a:t>★  Concepts  =  Important Medical Ideas   (e.g., medication adherence)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115568"/>
            <a:ext cx="5349240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5352" y="1115568"/>
            <a:ext cx="128016" cy="5440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1261872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2E7D32"/>
                </a:solidFill>
              </a:defRPr>
            </a:pPr>
            <a:r>
              <a:t>STAGE 5 — MeSH NORMALIZATION</a:t>
            </a:r>
          </a:p>
          <a:p>
            <a:pPr>
              <a:defRPr sz="1200">
                <a:solidFill>
                  <a:srgbClr val="5A5A55"/>
                </a:solidFill>
              </a:defRPr>
            </a:pPr>
            <a:r>
              <a:t>Standardize concept names and eliminate duplicate lexical forms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01384" y="1956816"/>
            <a:ext cx="4892040" cy="7772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66534"/>
                </a:solidFill>
              </a:defRPr>
            </a:pPr>
            <a:r>
              <a:t>Purpose: Ensure Consistency &amp; Merge Synonyms</a:t>
            </a:r>
          </a:p>
          <a:p>
            <a:pPr>
              <a:defRPr sz="1200" b="1">
                <a:solidFill>
                  <a:srgbClr val="282825"/>
                </a:solidFill>
              </a:defRPr>
            </a:pPr>
            <a:r>
              <a:t>• Merges plural forms, hyphens, and variants (e.g., 'cell phone' → 'smartphone').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1384" y="2834640"/>
            <a:ext cx="489204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92608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475569"/>
                </a:solidFill>
              </a:defRPr>
            </a:pPr>
            <a:r>
              <a:t>2,790</a:t>
            </a:r>
          </a:p>
          <a:p>
            <a:pPr algn="ctr">
              <a:defRPr sz="1100" b="1">
                <a:solidFill>
                  <a:srgbClr val="5A5A55"/>
                </a:solidFill>
              </a:defRPr>
            </a:pPr>
            <a:r>
              <a:t>Extracted 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081528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9260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E40AF"/>
                </a:solidFill>
              </a:defRPr>
            </a:pPr>
            <a:r>
              <a:t>2,786</a:t>
            </a:r>
          </a:p>
          <a:p>
            <a:pPr algn="ctr">
              <a:defRPr sz="1050" b="1">
                <a:solidFill>
                  <a:srgbClr val="1E40AF"/>
                </a:solidFill>
              </a:defRPr>
            </a:pPr>
            <a:r>
              <a:t>4 Duplicates Merged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081528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39" y="292608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2E7D32"/>
                </a:solidFill>
              </a:defRPr>
            </a:pPr>
            <a:r>
              <a:t>21,439</a:t>
            </a:r>
          </a:p>
          <a:p>
            <a:pPr algn="ctr">
              <a:defRPr sz="1100" b="1">
                <a:solidFill>
                  <a:srgbClr val="2E7D32"/>
                </a:solidFill>
              </a:defRPr>
            </a:pPr>
            <a:r>
              <a:t>Topic-Concept Pairs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114800"/>
            <a:ext cx="48920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282825"/>
                </a:solidFill>
              </a:defRPr>
            </a:pPr>
            <a:r>
              <a:t>• Establishes formal bipartite connections linking 63 topics to normalized MeSH terms.</a:t>
            </a:r>
          </a:p>
          <a:p>
            <a:pPr>
              <a:defRPr sz="1250">
                <a:solidFill>
                  <a:srgbClr val="282825"/>
                </a:solidFill>
              </a:defRPr>
            </a:pPr>
            <a:r>
              <a:t>• Avoids fragmented metrics by grouping morphological and synonym variations.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01384" y="5093207"/>
            <a:ext cx="489204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STRUCTURED PIPELINE BRIDGE:</a:t>
            </a:r>
          </a:p>
          <a:p>
            <a:pPr>
              <a:defRPr sz="1300" b="1">
                <a:solidFill>
                  <a:srgbClr val="1D4ED8"/>
                </a:solidFill>
              </a:defRPr>
            </a:pPr>
            <a:r>
              <a:t>Papers   ◄────────►   Topics   ◄────────►   Biomedical Concepts</a:t>
            </a:r>
          </a:p>
          <a:p>
            <a:pPr>
              <a:defRPr sz="1150">
                <a:solidFill>
                  <a:srgbClr val="282825"/>
                </a:solidFill>
              </a:defRPr>
            </a:pPr>
            <a:r>
              <a:t>Direct input for semantic relationship analysis and candidate research gap scoring.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6539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5"/>
                </a:solidFill>
              </a:defRPr>
            </a:pPr>
            <a:r>
              <a:t>10b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1289</Words>
  <Application>Microsoft Office PowerPoint</Application>
  <PresentationFormat>Widescreen</PresentationFormat>
  <Paragraphs>227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B23AI088</cp:lastModifiedBy>
  <cp:revision>37</cp:revision>
  <dcterms:created xsi:type="dcterms:W3CDTF">2013-01-27T09:14:16Z</dcterms:created>
  <dcterms:modified xsi:type="dcterms:W3CDTF">2026-09-26T18:26:04Z</dcterms:modified>
  <cp:category/>
</cp:coreProperties>
</file>